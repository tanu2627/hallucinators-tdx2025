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2"/>
  </p:notesMasterIdLst>
  <p:sldIdLst>
    <p:sldId id="265" r:id="rId2"/>
    <p:sldId id="262" r:id="rId3"/>
    <p:sldId id="258" r:id="rId4"/>
    <p:sldId id="259" r:id="rId5"/>
    <p:sldId id="261" r:id="rId6"/>
    <p:sldId id="266" r:id="rId7"/>
    <p:sldId id="263" r:id="rId8"/>
    <p:sldId id="267" r:id="rId9"/>
    <p:sldId id="264"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F7B640-EBF7-4683-A78D-D6698545FCB6}" v="15" dt="2025-04-29T18:03:59.4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112"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044044-C15E-480B-80C1-AB430CCB5030}"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976F59-F817-4B4F-A75B-990B710818AC}" type="slidenum">
              <a:rPr lang="en-IN" smtClean="0"/>
              <a:t>‹#›</a:t>
            </a:fld>
            <a:endParaRPr lang="en-IN"/>
          </a:p>
        </p:txBody>
      </p:sp>
    </p:spTree>
    <p:extLst>
      <p:ext uri="{BB962C8B-B14F-4D97-AF65-F5344CB8AC3E}">
        <p14:creationId xmlns:p14="http://schemas.microsoft.com/office/powerpoint/2010/main" val="1755467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976F59-F817-4B4F-A75B-990B710818AC}" type="slidenum">
              <a:rPr lang="en-IN" smtClean="0"/>
              <a:t>5</a:t>
            </a:fld>
            <a:endParaRPr lang="en-IN"/>
          </a:p>
        </p:txBody>
      </p:sp>
    </p:spTree>
    <p:extLst>
      <p:ext uri="{BB962C8B-B14F-4D97-AF65-F5344CB8AC3E}">
        <p14:creationId xmlns:p14="http://schemas.microsoft.com/office/powerpoint/2010/main" val="2344352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4/30/2025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97242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4/30/2025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44676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4/30/2025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8676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4/30/2025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80453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4/30/2025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1925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4/30/2025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9254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4/30/2025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49832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4/30/2025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1106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4/30/2025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595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4/30/2025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5297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4/30/2025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32273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4/30/2025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76301423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D7CC3D-F68F-B86E-B7A0-BFFAB0C503A3}"/>
              </a:ext>
            </a:extLst>
          </p:cNvPr>
          <p:cNvSpPr>
            <a:spLocks noGrp="1"/>
          </p:cNvSpPr>
          <p:nvPr>
            <p:ph type="ctrTitle"/>
          </p:nvPr>
        </p:nvSpPr>
        <p:spPr>
          <a:xfrm>
            <a:off x="2301923" y="1122363"/>
            <a:ext cx="7588155" cy="1181925"/>
          </a:xfrm>
        </p:spPr>
        <p:txBody>
          <a:bodyPr/>
          <a:lstStyle/>
          <a:p>
            <a:r>
              <a:rPr lang="en-US" dirty="0" err="1"/>
              <a:t>ResQForce</a:t>
            </a:r>
            <a:endParaRPr lang="en-IN" dirty="0"/>
          </a:p>
        </p:txBody>
      </p:sp>
      <p:sp>
        <p:nvSpPr>
          <p:cNvPr id="5" name="Subtitle 4">
            <a:extLst>
              <a:ext uri="{FF2B5EF4-FFF2-40B4-BE49-F238E27FC236}">
                <a16:creationId xmlns:a16="http://schemas.microsoft.com/office/drawing/2014/main" id="{F08C3F0E-76A3-DE10-26F8-F1C57907A01E}"/>
              </a:ext>
            </a:extLst>
          </p:cNvPr>
          <p:cNvSpPr>
            <a:spLocks noGrp="1"/>
          </p:cNvSpPr>
          <p:nvPr>
            <p:ph type="subTitle" idx="1"/>
          </p:nvPr>
        </p:nvSpPr>
        <p:spPr>
          <a:xfrm>
            <a:off x="2301923" y="2688336"/>
            <a:ext cx="7588155" cy="2569463"/>
          </a:xfrm>
        </p:spPr>
        <p:txBody>
          <a:bodyPr>
            <a:normAutofit fontScale="92500" lnSpcReduction="10000"/>
          </a:bodyPr>
          <a:lstStyle/>
          <a:p>
            <a:pPr algn="r"/>
            <a:r>
              <a:rPr lang="en-US" b="1" dirty="0"/>
              <a:t>Team Name </a:t>
            </a:r>
            <a:r>
              <a:rPr lang="en-US" dirty="0"/>
              <a:t>: Hallucinators</a:t>
            </a:r>
          </a:p>
          <a:p>
            <a:pPr algn="r"/>
            <a:r>
              <a:rPr lang="en-US" b="1" dirty="0"/>
              <a:t>Team Member 1</a:t>
            </a:r>
            <a:r>
              <a:rPr lang="en-US" dirty="0"/>
              <a:t> : Geethanjali Priyanka S</a:t>
            </a:r>
          </a:p>
          <a:p>
            <a:pPr algn="r"/>
            <a:r>
              <a:rPr lang="en-US" b="1" dirty="0"/>
              <a:t>Team Member 2 </a:t>
            </a:r>
            <a:r>
              <a:rPr lang="en-US" dirty="0"/>
              <a:t>: Prajwal Palaksha</a:t>
            </a:r>
          </a:p>
          <a:p>
            <a:pPr algn="r"/>
            <a:r>
              <a:rPr lang="en-US" b="1" dirty="0"/>
              <a:t>Team Member 3 </a:t>
            </a:r>
            <a:r>
              <a:rPr lang="en-US" dirty="0"/>
              <a:t>: Kavinkumar M</a:t>
            </a:r>
          </a:p>
          <a:p>
            <a:pPr algn="r"/>
            <a:r>
              <a:rPr lang="en-US" b="1" dirty="0"/>
              <a:t>Team Member 4 </a:t>
            </a:r>
            <a:r>
              <a:rPr lang="en-US" dirty="0"/>
              <a:t>: Tanu Jain</a:t>
            </a:r>
          </a:p>
          <a:p>
            <a:pPr algn="r"/>
            <a:r>
              <a:rPr lang="en-US" b="1" dirty="0"/>
              <a:t>Team Member 5 </a:t>
            </a:r>
            <a:r>
              <a:rPr lang="en-US" dirty="0"/>
              <a:t>: Kavya KK</a:t>
            </a:r>
            <a:endParaRPr lang="en-IN" dirty="0"/>
          </a:p>
        </p:txBody>
      </p:sp>
    </p:spTree>
    <p:extLst>
      <p:ext uri="{BB962C8B-B14F-4D97-AF65-F5344CB8AC3E}">
        <p14:creationId xmlns:p14="http://schemas.microsoft.com/office/powerpoint/2010/main" val="2674933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9680E-358F-BEF5-1EBC-D9DC653AF474}"/>
              </a:ext>
            </a:extLst>
          </p:cNvPr>
          <p:cNvSpPr>
            <a:spLocks noGrp="1"/>
          </p:cNvSpPr>
          <p:nvPr>
            <p:ph type="title"/>
          </p:nvPr>
        </p:nvSpPr>
        <p:spPr>
          <a:xfrm>
            <a:off x="612648" y="548640"/>
            <a:ext cx="10653578" cy="518160"/>
          </a:xfrm>
        </p:spPr>
        <p:txBody>
          <a:bodyPr>
            <a:normAutofit/>
          </a:bodyPr>
          <a:lstStyle/>
          <a:p>
            <a:r>
              <a:rPr lang="en-US" sz="2000" dirty="0">
                <a:latin typeface="Arial" panose="020B0604020202020204" pitchFamily="34" charset="0"/>
                <a:cs typeface="Arial" panose="020B0604020202020204" pitchFamily="34" charset="0"/>
              </a:rPr>
              <a:t>Use Case: AI-Driven Human Trafficking Detection and Intervention Platform</a:t>
            </a:r>
            <a:endParaRPr lang="en-IN"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9856005-3569-830E-9476-DC6B40E0EF7A}"/>
              </a:ext>
            </a:extLst>
          </p:cNvPr>
          <p:cNvSpPr>
            <a:spLocks noGrp="1"/>
          </p:cNvSpPr>
          <p:nvPr>
            <p:ph idx="1"/>
          </p:nvPr>
        </p:nvSpPr>
        <p:spPr>
          <a:xfrm>
            <a:off x="612647" y="1066800"/>
            <a:ext cx="10653579" cy="5242560"/>
          </a:xfrm>
        </p:spPr>
        <p:txBody>
          <a:bodyPr>
            <a:noAutofit/>
          </a:bodyPr>
          <a:lstStyle/>
          <a:p>
            <a:pPr>
              <a:buNone/>
            </a:pPr>
            <a:r>
              <a:rPr lang="en-US" sz="1000" b="1" dirty="0">
                <a:latin typeface="Arial" panose="020B0604020202020204" pitchFamily="34" charset="0"/>
                <a:cs typeface="Arial" panose="020B0604020202020204" pitchFamily="34" charset="0"/>
              </a:rPr>
              <a:t>Objective:</a:t>
            </a:r>
          </a:p>
          <a:p>
            <a:pPr>
              <a:buNone/>
            </a:pPr>
            <a:r>
              <a:rPr lang="en-US" sz="1000" dirty="0">
                <a:latin typeface="Arial" panose="020B0604020202020204" pitchFamily="34" charset="0"/>
                <a:cs typeface="Arial" panose="020B0604020202020204" pitchFamily="34" charset="0"/>
              </a:rPr>
              <a:t>	To proactively identify and prevent human trafficking by leveraging AI to unify and analyze cross-channel digital activity, detect hidden risk patterns, and trigger real-time, coordinated responses.</a:t>
            </a:r>
          </a:p>
          <a:p>
            <a:pPr>
              <a:buNone/>
            </a:pPr>
            <a:endParaRPr lang="en-US" sz="1000" dirty="0">
              <a:latin typeface="Arial" panose="020B0604020202020204" pitchFamily="34" charset="0"/>
              <a:cs typeface="Arial" panose="020B0604020202020204" pitchFamily="34" charset="0"/>
            </a:endParaRPr>
          </a:p>
          <a:p>
            <a:pPr>
              <a:buNone/>
            </a:pPr>
            <a:r>
              <a:rPr lang="en-US" sz="1000" b="1" dirty="0">
                <a:latin typeface="Arial" panose="020B0604020202020204" pitchFamily="34" charset="0"/>
                <a:cs typeface="Arial" panose="020B0604020202020204" pitchFamily="34" charset="0"/>
              </a:rPr>
              <a:t>Why Human trafficking demands Innovation :</a:t>
            </a:r>
          </a:p>
          <a:p>
            <a:r>
              <a:rPr lang="en-US" sz="1000" b="1" i="1" dirty="0">
                <a:latin typeface="Arial" panose="020B0604020202020204" pitchFamily="34" charset="0"/>
                <a:cs typeface="Arial" panose="020B0604020202020204" pitchFamily="34" charset="0"/>
              </a:rPr>
              <a:t>Global Impact: </a:t>
            </a:r>
            <a:r>
              <a:rPr lang="en-US" sz="1000" dirty="0">
                <a:latin typeface="Arial" panose="020B0604020202020204" pitchFamily="34" charset="0"/>
                <a:cs typeface="Arial" panose="020B0604020202020204" pitchFamily="34" charset="0"/>
              </a:rPr>
              <a:t>Human trafficking affects millions annually through forced labor, sexual exploitation, and coercion—posing a severe humanitarian and compliance risk.</a:t>
            </a:r>
          </a:p>
          <a:p>
            <a:r>
              <a:rPr lang="en-US" sz="1000" b="1" i="1" dirty="0">
                <a:latin typeface="Arial" panose="020B0604020202020204" pitchFamily="34" charset="0"/>
                <a:cs typeface="Arial" panose="020B0604020202020204" pitchFamily="34" charset="0"/>
              </a:rPr>
              <a:t>Complex Detection Landscape: </a:t>
            </a:r>
            <a:r>
              <a:rPr lang="en-US" sz="1000" dirty="0">
                <a:latin typeface="Arial" panose="020B0604020202020204" pitchFamily="34" charset="0"/>
                <a:cs typeface="Arial" panose="020B0604020202020204" pitchFamily="34" charset="0"/>
              </a:rPr>
              <a:t>Traffickers exploit fragmented supply chains, online platforms, and anonymous networks, making detection difficult and inconsistent.</a:t>
            </a:r>
          </a:p>
          <a:p>
            <a:r>
              <a:rPr lang="en-US" sz="1000" b="1" i="1" dirty="0">
                <a:latin typeface="Arial" panose="020B0604020202020204" pitchFamily="34" charset="0"/>
                <a:cs typeface="Arial" panose="020B0604020202020204" pitchFamily="34" charset="0"/>
              </a:rPr>
              <a:t>Data Disconnection: </a:t>
            </a:r>
            <a:r>
              <a:rPr lang="en-US" sz="1000" dirty="0">
                <a:latin typeface="Arial" panose="020B0604020202020204" pitchFamily="34" charset="0"/>
                <a:cs typeface="Arial" panose="020B0604020202020204" pitchFamily="34" charset="0"/>
              </a:rPr>
              <a:t>Early warning signs are often subtle and spread across disconnected systems, preventing a unified, actionable response.</a:t>
            </a:r>
          </a:p>
          <a:p>
            <a:r>
              <a:rPr lang="en-US" sz="1000" b="1" i="1" dirty="0">
                <a:latin typeface="Arial" panose="020B0604020202020204" pitchFamily="34" charset="0"/>
                <a:cs typeface="Arial" panose="020B0604020202020204" pitchFamily="34" charset="0"/>
              </a:rPr>
              <a:t>Adaptive Threats: </a:t>
            </a:r>
            <a:r>
              <a:rPr lang="en-US" sz="1000" dirty="0">
                <a:latin typeface="Arial" panose="020B0604020202020204" pitchFamily="34" charset="0"/>
                <a:cs typeface="Arial" panose="020B0604020202020204" pitchFamily="34" charset="0"/>
              </a:rPr>
              <a:t>Traffickers continually evolve their tactics, outpacing legacy monitoring and rule-based systems.</a:t>
            </a:r>
          </a:p>
          <a:p>
            <a:r>
              <a:rPr lang="en-US" sz="1000" b="1" i="1" dirty="0">
                <a:latin typeface="Arial" panose="020B0604020202020204" pitchFamily="34" charset="0"/>
                <a:cs typeface="Arial" panose="020B0604020202020204" pitchFamily="34" charset="0"/>
              </a:rPr>
              <a:t>Systemic Gaps: </a:t>
            </a:r>
            <a:r>
              <a:rPr lang="en-US" sz="1000" dirty="0">
                <a:latin typeface="Arial" panose="020B0604020202020204" pitchFamily="34" charset="0"/>
                <a:cs typeface="Arial" panose="020B0604020202020204" pitchFamily="34" charset="0"/>
              </a:rPr>
              <a:t>Most current detection efforts are reactive, siloed, and fail to provide early intervention or real-time insights.</a:t>
            </a:r>
          </a:p>
          <a:p>
            <a:r>
              <a:rPr lang="en-US" sz="1000" b="1" i="1" dirty="0">
                <a:latin typeface="Arial" panose="020B0604020202020204" pitchFamily="34" charset="0"/>
                <a:cs typeface="Arial" panose="020B0604020202020204" pitchFamily="34" charset="0"/>
              </a:rPr>
              <a:t>Call to Action: </a:t>
            </a:r>
            <a:r>
              <a:rPr lang="en-US" sz="1000" dirty="0">
                <a:latin typeface="Arial" panose="020B0604020202020204" pitchFamily="34" charset="0"/>
                <a:cs typeface="Arial" panose="020B0604020202020204" pitchFamily="34" charset="0"/>
              </a:rPr>
              <a:t>There is a critical need for AI-powered, cross-platform solutions that unify data, detect hidden behavioral patterns, and enable proactive, intelligence-led intervention.</a:t>
            </a:r>
            <a:endParaRPr lang="en-IN" sz="1000" dirty="0">
              <a:latin typeface="Arial" panose="020B0604020202020204" pitchFamily="34" charset="0"/>
              <a:cs typeface="Arial" panose="020B0604020202020204" pitchFamily="34" charset="0"/>
            </a:endParaRPr>
          </a:p>
          <a:p>
            <a:pPr>
              <a:buNone/>
            </a:pPr>
            <a:endParaRPr lang="en-US" sz="1000" dirty="0">
              <a:latin typeface="Arial" panose="020B0604020202020204" pitchFamily="34" charset="0"/>
              <a:cs typeface="Arial" panose="020B0604020202020204" pitchFamily="34" charset="0"/>
            </a:endParaRPr>
          </a:p>
          <a:p>
            <a:pPr>
              <a:buNone/>
            </a:pPr>
            <a:r>
              <a:rPr lang="en-US" sz="1000" b="1" dirty="0">
                <a:latin typeface="Arial" panose="020B0604020202020204" pitchFamily="34" charset="0"/>
                <a:cs typeface="Arial" panose="020B0604020202020204" pitchFamily="34" charset="0"/>
              </a:rPr>
              <a:t>Business Value:</a:t>
            </a:r>
          </a:p>
          <a:p>
            <a:pPr>
              <a:buFont typeface="Arial" panose="020B0604020202020204" pitchFamily="34" charset="0"/>
              <a:buChar char="•"/>
            </a:pPr>
            <a:r>
              <a:rPr lang="en-US" sz="1000" dirty="0">
                <a:latin typeface="Arial" panose="020B0604020202020204" pitchFamily="34" charset="0"/>
                <a:cs typeface="Arial" panose="020B0604020202020204" pitchFamily="34" charset="0"/>
              </a:rPr>
              <a:t>Enables early intervention and prevents harm.</a:t>
            </a:r>
          </a:p>
          <a:p>
            <a:pPr>
              <a:buFont typeface="Arial" panose="020B0604020202020204" pitchFamily="34" charset="0"/>
              <a:buChar char="•"/>
            </a:pPr>
            <a:r>
              <a:rPr lang="en-US" sz="1000" dirty="0">
                <a:latin typeface="Arial" panose="020B0604020202020204" pitchFamily="34" charset="0"/>
                <a:cs typeface="Arial" panose="020B0604020202020204" pitchFamily="34" charset="0"/>
              </a:rPr>
              <a:t>Reduces investigation fatigue through intelligent analysis, reasoning and prioritization.</a:t>
            </a:r>
          </a:p>
          <a:p>
            <a:pPr>
              <a:buFont typeface="Arial" panose="020B0604020202020204" pitchFamily="34" charset="0"/>
              <a:buChar char="•"/>
            </a:pPr>
            <a:r>
              <a:rPr lang="en-US" sz="1000" dirty="0">
                <a:latin typeface="Arial" panose="020B0604020202020204" pitchFamily="34" charset="0"/>
                <a:cs typeface="Arial" panose="020B0604020202020204" pitchFamily="34" charset="0"/>
              </a:rPr>
              <a:t>Strengthens compliance with regulatory obligations (e.g., travel, financial, etc.,).</a:t>
            </a:r>
          </a:p>
          <a:p>
            <a:pPr>
              <a:buFont typeface="Arial" panose="020B0604020202020204" pitchFamily="34" charset="0"/>
              <a:buChar char="•"/>
            </a:pPr>
            <a:r>
              <a:rPr lang="en-US" sz="1000" dirty="0">
                <a:latin typeface="Arial" panose="020B0604020202020204" pitchFamily="34" charset="0"/>
                <a:cs typeface="Arial" panose="020B0604020202020204" pitchFamily="34" charset="0"/>
              </a:rPr>
              <a:t>Demonstrates proactive social responsibility.</a:t>
            </a:r>
          </a:p>
          <a:p>
            <a:endParaRPr lang="en-IN" sz="1000" dirty="0"/>
          </a:p>
        </p:txBody>
      </p:sp>
    </p:spTree>
    <p:extLst>
      <p:ext uri="{BB962C8B-B14F-4D97-AF65-F5344CB8AC3E}">
        <p14:creationId xmlns:p14="http://schemas.microsoft.com/office/powerpoint/2010/main" val="376559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6493-A7BF-6175-7197-54A7645271D4}"/>
              </a:ext>
            </a:extLst>
          </p:cNvPr>
          <p:cNvSpPr>
            <a:spLocks noGrp="1"/>
          </p:cNvSpPr>
          <p:nvPr>
            <p:ph type="title"/>
          </p:nvPr>
        </p:nvSpPr>
        <p:spPr/>
        <p:txBody>
          <a:bodyPr>
            <a:normAutofit/>
          </a:bodyPr>
          <a:lstStyle/>
          <a:p>
            <a:r>
              <a:rPr lang="en-US" sz="2000" dirty="0">
                <a:latin typeface="Arial" panose="020B0604020202020204" pitchFamily="34" charset="0"/>
                <a:cs typeface="Arial" panose="020B0604020202020204" pitchFamily="34" charset="0"/>
              </a:rPr>
              <a:t>Understanding Human Trafficking: The Core Framework</a:t>
            </a:r>
            <a:endParaRPr lang="en-IN"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4B7E9D6-194C-8815-2384-65BE42EC1B53}"/>
              </a:ext>
            </a:extLst>
          </p:cNvPr>
          <p:cNvSpPr>
            <a:spLocks noGrp="1"/>
          </p:cNvSpPr>
          <p:nvPr>
            <p:ph idx="1"/>
          </p:nvPr>
        </p:nvSpPr>
        <p:spPr>
          <a:xfrm>
            <a:off x="612648" y="1399846"/>
            <a:ext cx="10653579" cy="4593828"/>
          </a:xfrm>
        </p:spPr>
        <p:txBody>
          <a:bodyPr vert="horz" lIns="91440" tIns="45720" rIns="91440" bIns="45720" rtlCol="0" anchor="t">
            <a:normAutofit/>
          </a:bodyPr>
          <a:lstStyle/>
          <a:p>
            <a:r>
              <a:rPr lang="en-US" sz="1200" dirty="0">
                <a:latin typeface="Arial" panose="020B0604020202020204" pitchFamily="34" charset="0"/>
                <a:cs typeface="Arial" panose="020B0604020202020204" pitchFamily="34" charset="0"/>
              </a:rPr>
              <a:t>Act – What is Done</a:t>
            </a:r>
          </a:p>
          <a:p>
            <a:r>
              <a:rPr lang="en-US" sz="1200" dirty="0">
                <a:latin typeface="Arial" panose="020B0604020202020204" pitchFamily="34" charset="0"/>
                <a:cs typeface="Arial" panose="020B0604020202020204" pitchFamily="34" charset="0"/>
              </a:rPr>
              <a:t>Means – How it is Done</a:t>
            </a:r>
          </a:p>
          <a:p>
            <a:r>
              <a:rPr lang="en-US" sz="1200" dirty="0">
                <a:latin typeface="Arial" panose="020B0604020202020204" pitchFamily="34" charset="0"/>
                <a:cs typeface="Arial" panose="020B0604020202020204" pitchFamily="34" charset="0"/>
              </a:rPr>
              <a:t>Purpose – Why It is Done</a:t>
            </a:r>
          </a:p>
          <a:p>
            <a:endParaRPr lang="en-US" sz="1200" dirty="0">
              <a:latin typeface="Arial" panose="020B0604020202020204" pitchFamily="34" charset="0"/>
              <a:cs typeface="Arial" panose="020B0604020202020204" pitchFamily="34" charset="0"/>
            </a:endParaRPr>
          </a:p>
          <a:p>
            <a:pPr marL="0" indent="0">
              <a:buNone/>
            </a:pPr>
            <a:r>
              <a:rPr lang="en-US" sz="1200" b="1" i="1" dirty="0">
                <a:latin typeface="Arial" panose="020B0604020202020204" pitchFamily="34" charset="0"/>
                <a:cs typeface="Arial" panose="020B0604020202020204" pitchFamily="34" charset="0"/>
              </a:rPr>
              <a:t>Act</a:t>
            </a:r>
            <a:r>
              <a:rPr lang="en-US" sz="1200" dirty="0">
                <a:latin typeface="Arial" panose="020B0604020202020204" pitchFamily="34" charset="0"/>
                <a:cs typeface="Arial" panose="020B0604020202020204" pitchFamily="34" charset="0"/>
              </a:rPr>
              <a:t> can be through Recruitment, Transportation, Transfer, Harbouring.</a:t>
            </a:r>
          </a:p>
          <a:p>
            <a:pPr marL="0" indent="0">
              <a:buNone/>
            </a:pPr>
            <a:r>
              <a:rPr lang="en-US" sz="1200" b="1" i="1" dirty="0">
                <a:latin typeface="Arial" panose="020B0604020202020204" pitchFamily="34" charset="0"/>
                <a:cs typeface="Arial" panose="020B0604020202020204" pitchFamily="34" charset="0"/>
              </a:rPr>
              <a:t>Means</a:t>
            </a:r>
            <a:r>
              <a:rPr lang="en-US" sz="1200" dirty="0">
                <a:latin typeface="Arial" panose="020B0604020202020204" pitchFamily="34" charset="0"/>
                <a:cs typeface="Arial" panose="020B0604020202020204" pitchFamily="34" charset="0"/>
              </a:rPr>
              <a:t> – Threat or other forms of force, coercion, Fraud, Abuse of power.</a:t>
            </a:r>
          </a:p>
          <a:p>
            <a:pPr marL="0" indent="0">
              <a:buNone/>
            </a:pPr>
            <a:r>
              <a:rPr lang="en-US" sz="1200" b="1" i="1" dirty="0">
                <a:latin typeface="Arial" panose="020B0604020202020204" pitchFamily="34" charset="0"/>
                <a:cs typeface="Arial" panose="020B0604020202020204" pitchFamily="34" charset="0"/>
              </a:rPr>
              <a:t>Purpose</a:t>
            </a:r>
            <a:r>
              <a:rPr lang="en-US" sz="1200" dirty="0">
                <a:latin typeface="Arial" panose="020B0604020202020204" pitchFamily="34" charset="0"/>
                <a:cs typeface="Arial" panose="020B0604020202020204" pitchFamily="34" charset="0"/>
              </a:rPr>
              <a:t> – Exploitation in terms of Forced </a:t>
            </a:r>
            <a:r>
              <a:rPr lang="en-US" sz="1200" dirty="0" err="1">
                <a:latin typeface="Arial" panose="020B0604020202020204" pitchFamily="34" charset="0"/>
                <a:cs typeface="Arial" panose="020B0604020202020204" pitchFamily="34" charset="0"/>
              </a:rPr>
              <a:t>labour</a:t>
            </a:r>
            <a:r>
              <a:rPr lang="en-US" sz="1200" dirty="0">
                <a:latin typeface="Arial" panose="020B0604020202020204" pitchFamily="34" charset="0"/>
                <a:cs typeface="Arial" panose="020B0604020202020204" pitchFamily="34" charset="0"/>
              </a:rPr>
              <a:t> / services, slavery, </a:t>
            </a:r>
            <a:r>
              <a:rPr lang="en-IN" sz="1200" dirty="0">
                <a:latin typeface="Arial" panose="020B0604020202020204" pitchFamily="34" charset="0"/>
                <a:cs typeface="Arial" panose="020B0604020202020204" pitchFamily="34" charset="0"/>
              </a:rPr>
              <a:t>Removal of organs, exploitation of the prostitution, child Kidnapping.</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1862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9FA7-CC59-5D34-5F88-A47F4A35F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A3E5A-6E01-EFB2-63D2-65F31ACC7C84}"/>
              </a:ext>
            </a:extLst>
          </p:cNvPr>
          <p:cNvSpPr>
            <a:spLocks noGrp="1"/>
          </p:cNvSpPr>
          <p:nvPr>
            <p:ph type="title"/>
          </p:nvPr>
        </p:nvSpPr>
        <p:spPr/>
        <p:txBody>
          <a:bodyPr>
            <a:normAutofit/>
          </a:bodyPr>
          <a:lstStyle/>
          <a:p>
            <a:r>
              <a:rPr lang="en-US" sz="1400" dirty="0">
                <a:latin typeface="Arial" panose="020B0604020202020204" pitchFamily="34" charset="0"/>
                <a:cs typeface="Arial" panose="020B0604020202020204" pitchFamily="34" charset="0"/>
              </a:rPr>
              <a:t>From Data to Action: Using Salesforce to Detect and Disrupt Trafficking Networks</a:t>
            </a:r>
            <a:endParaRPr lang="en-IN" sz="1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FA7B0B6-1708-4A9E-8C90-9F2CF1A84D26}"/>
              </a:ext>
            </a:extLst>
          </p:cNvPr>
          <p:cNvSpPr>
            <a:spLocks noGrp="1"/>
          </p:cNvSpPr>
          <p:nvPr>
            <p:ph idx="1"/>
          </p:nvPr>
        </p:nvSpPr>
        <p:spPr>
          <a:xfrm>
            <a:off x="676257" y="1109990"/>
            <a:ext cx="10653579" cy="5297898"/>
          </a:xfrm>
        </p:spPr>
        <p:txBody>
          <a:bodyPr>
            <a:noAutofit/>
          </a:bodyPr>
          <a:lstStyle/>
          <a:p>
            <a:pPr>
              <a:buNone/>
            </a:pPr>
            <a:r>
              <a:rPr lang="en-US" sz="1100" b="1" dirty="0">
                <a:latin typeface="Arial" panose="020B0604020202020204" pitchFamily="34" charset="0"/>
                <a:cs typeface="Arial" panose="020B0604020202020204" pitchFamily="34" charset="0"/>
              </a:rPr>
              <a:t>Data Integration </a:t>
            </a:r>
          </a:p>
          <a:p>
            <a:pPr>
              <a:buNone/>
            </a:pPr>
            <a:r>
              <a:rPr lang="en-US" sz="1100" b="1" dirty="0">
                <a:latin typeface="Arial" panose="020B0604020202020204" pitchFamily="34" charset="0"/>
                <a:cs typeface="Arial" panose="020B0604020202020204" pitchFamily="34" charset="0"/>
              </a:rPr>
              <a:t>	Data Cloud </a:t>
            </a:r>
            <a:r>
              <a:rPr lang="en-US" sz="1100" dirty="0">
                <a:latin typeface="Arial" panose="020B0604020202020204" pitchFamily="34" charset="0"/>
                <a:cs typeface="Arial" panose="020B0604020202020204" pitchFamily="34" charset="0"/>
              </a:rPr>
              <a:t>serves as the foundation by </a:t>
            </a:r>
            <a:r>
              <a:rPr lang="en-US" sz="1100" b="1" dirty="0">
                <a:latin typeface="Arial" panose="020B0604020202020204" pitchFamily="34" charset="0"/>
                <a:cs typeface="Arial" panose="020B0604020202020204" pitchFamily="34" charset="0"/>
              </a:rPr>
              <a:t>ingesting data</a:t>
            </a:r>
            <a:r>
              <a:rPr lang="en-US" sz="1100" dirty="0">
                <a:latin typeface="Arial" panose="020B0604020202020204" pitchFamily="34" charset="0"/>
                <a:cs typeface="Arial" panose="020B0604020202020204" pitchFamily="34" charset="0"/>
              </a:rPr>
              <a:t> from multiple digital sources—social media platforms, job portals, booking engines, bank transactions, and mobile apps. This consolidated view is critical for detecting multi-faceted trafficking behavior across domains.</a:t>
            </a:r>
          </a:p>
          <a:p>
            <a:pPr>
              <a:buNone/>
            </a:pPr>
            <a:r>
              <a:rPr lang="en-US" sz="1100" b="1" dirty="0">
                <a:latin typeface="Arial" panose="020B0604020202020204" pitchFamily="34" charset="0"/>
                <a:cs typeface="Arial" panose="020B0604020202020204" pitchFamily="34" charset="0"/>
              </a:rPr>
              <a:t>Early Detection</a:t>
            </a:r>
          </a:p>
          <a:p>
            <a:r>
              <a:rPr lang="en-US" sz="1100" b="1" dirty="0">
                <a:latin typeface="Arial" panose="020B0604020202020204" pitchFamily="34" charset="0"/>
                <a:cs typeface="Arial" panose="020B0604020202020204" pitchFamily="34" charset="0"/>
              </a:rPr>
              <a:t>Einstein Studio Prediction model </a:t>
            </a:r>
            <a:r>
              <a:rPr lang="en-US" sz="1100" dirty="0">
                <a:latin typeface="Arial" panose="020B0604020202020204" pitchFamily="34" charset="0"/>
                <a:cs typeface="Arial" panose="020B0604020202020204" pitchFamily="34" charset="0"/>
              </a:rPr>
              <a:t>uses machine learning models trained on historical signals (e.g., suspicious transactions, risky communication patterns, abnormal travel behavior) to predict the likelihood of trafficking-related activity.</a:t>
            </a:r>
          </a:p>
          <a:p>
            <a:pPr>
              <a:buNone/>
            </a:pPr>
            <a:r>
              <a:rPr lang="en-US" sz="1100" b="1" dirty="0">
                <a:latin typeface="Arial" panose="020B0604020202020204" pitchFamily="34" charset="0"/>
                <a:cs typeface="Arial" panose="020B0604020202020204" pitchFamily="34" charset="0"/>
              </a:rPr>
              <a:t>Scalability</a:t>
            </a:r>
          </a:p>
          <a:p>
            <a:r>
              <a:rPr lang="en-US" sz="1100" b="1" dirty="0">
                <a:latin typeface="Arial" panose="020B0604020202020204" pitchFamily="34" charset="0"/>
                <a:cs typeface="Arial" panose="020B0604020202020204" pitchFamily="34" charset="0"/>
              </a:rPr>
              <a:t>Agentforce</a:t>
            </a:r>
            <a:r>
              <a:rPr lang="en-US" sz="1100" dirty="0">
                <a:latin typeface="Arial" panose="020B0604020202020204" pitchFamily="34" charset="0"/>
                <a:cs typeface="Arial" panose="020B0604020202020204" pitchFamily="34" charset="0"/>
              </a:rPr>
              <a:t>, combined with Data Cloud and Einstein Studio model builder, allows AI agents to </a:t>
            </a:r>
            <a:r>
              <a:rPr lang="en-US" sz="1100" b="1" dirty="0">
                <a:latin typeface="Arial" panose="020B0604020202020204" pitchFamily="34" charset="0"/>
                <a:cs typeface="Arial" panose="020B0604020202020204" pitchFamily="34" charset="0"/>
              </a:rPr>
              <a:t>continuously monitor massive data volumes</a:t>
            </a:r>
            <a:r>
              <a:rPr lang="en-US" sz="1100" dirty="0">
                <a:latin typeface="Arial" panose="020B0604020202020204" pitchFamily="34" charset="0"/>
                <a:cs typeface="Arial" panose="020B0604020202020204" pitchFamily="34" charset="0"/>
              </a:rPr>
              <a:t> across channels..</a:t>
            </a:r>
          </a:p>
          <a:p>
            <a:pPr>
              <a:buNone/>
            </a:pPr>
            <a:r>
              <a:rPr lang="en-US" sz="1100" b="1" dirty="0">
                <a:latin typeface="Arial" panose="020B0604020202020204" pitchFamily="34" charset="0"/>
                <a:cs typeface="Arial" panose="020B0604020202020204" pitchFamily="34" charset="0"/>
              </a:rPr>
              <a:t>Proactive Intervention</a:t>
            </a:r>
          </a:p>
          <a:p>
            <a:r>
              <a:rPr lang="en-US" sz="1100" dirty="0">
                <a:latin typeface="Arial" panose="020B0604020202020204" pitchFamily="34" charset="0"/>
                <a:cs typeface="Arial" panose="020B0604020202020204" pitchFamily="34" charset="0"/>
              </a:rPr>
              <a:t>When Einstein detects a high-risk scenario, </a:t>
            </a:r>
            <a:r>
              <a:rPr lang="en-US" sz="1100" b="1" dirty="0">
                <a:latin typeface="Arial" panose="020B0604020202020204" pitchFamily="34" charset="0"/>
                <a:cs typeface="Arial" panose="020B0604020202020204" pitchFamily="34" charset="0"/>
              </a:rPr>
              <a:t>Agentforce</a:t>
            </a:r>
            <a:r>
              <a:rPr lang="en-US" sz="1100" dirty="0">
                <a:latin typeface="Arial" panose="020B0604020202020204" pitchFamily="34" charset="0"/>
                <a:cs typeface="Arial" panose="020B0604020202020204" pitchFamily="34" charset="0"/>
              </a:rPr>
              <a:t> can </a:t>
            </a:r>
            <a:r>
              <a:rPr lang="en-US" sz="1100" b="1" dirty="0">
                <a:latin typeface="Arial" panose="020B0604020202020204" pitchFamily="34" charset="0"/>
                <a:cs typeface="Arial" panose="020B0604020202020204" pitchFamily="34" charset="0"/>
              </a:rPr>
              <a:t>automatically trigger analysis and reasoning,</a:t>
            </a:r>
            <a:r>
              <a:rPr lang="en-US" sz="1100" dirty="0">
                <a:latin typeface="Arial" panose="020B0604020202020204" pitchFamily="34" charset="0"/>
                <a:cs typeface="Arial" panose="020B0604020202020204" pitchFamily="34" charset="0"/>
              </a:rPr>
              <a:t> creation of a case, assigning it to the right investigative team, sending real-time alerts to law enforcement or NGOs, taking victim rehabilitation measures. This ensures that </a:t>
            </a:r>
            <a:r>
              <a:rPr lang="en-US" sz="1100" b="1" dirty="0">
                <a:latin typeface="Arial" panose="020B0604020202020204" pitchFamily="34" charset="0"/>
                <a:cs typeface="Arial" panose="020B0604020202020204" pitchFamily="34" charset="0"/>
              </a:rPr>
              <a:t>critical threats are acted on immediately</a:t>
            </a:r>
            <a:r>
              <a:rPr lang="en-US" sz="1100" dirty="0">
                <a:latin typeface="Arial" panose="020B0604020202020204" pitchFamily="34" charset="0"/>
                <a:cs typeface="Arial" panose="020B0604020202020204" pitchFamily="34" charset="0"/>
              </a:rPr>
              <a:t>, not days or weeks later.</a:t>
            </a:r>
          </a:p>
          <a:p>
            <a:pPr>
              <a:buNone/>
            </a:pPr>
            <a:r>
              <a:rPr lang="en-US" sz="1100" b="1" dirty="0">
                <a:latin typeface="Arial" panose="020B0604020202020204" pitchFamily="34" charset="0"/>
                <a:cs typeface="Arial" panose="020B0604020202020204" pitchFamily="34" charset="0"/>
              </a:rPr>
              <a:t>Reducing False Positives</a:t>
            </a:r>
          </a:p>
          <a:p>
            <a:r>
              <a:rPr lang="en-US" sz="1100" dirty="0">
                <a:latin typeface="Arial" panose="020B0604020202020204" pitchFamily="34" charset="0"/>
                <a:cs typeface="Arial" panose="020B0604020202020204" pitchFamily="34" charset="0"/>
              </a:rPr>
              <a:t>Using historical data and feedback loops, </a:t>
            </a:r>
            <a:r>
              <a:rPr lang="en-US" sz="1100" b="1" dirty="0">
                <a:latin typeface="Arial" panose="020B0604020202020204" pitchFamily="34" charset="0"/>
                <a:cs typeface="Arial" panose="020B0604020202020204" pitchFamily="34" charset="0"/>
              </a:rPr>
              <a:t>Einstein Studio Prediction model continuously refines its models</a:t>
            </a:r>
            <a:r>
              <a:rPr lang="en-US" sz="1100" dirty="0">
                <a:latin typeface="Arial" panose="020B0604020202020204" pitchFamily="34" charset="0"/>
                <a:cs typeface="Arial" panose="020B0604020202020204" pitchFamily="34" charset="0"/>
              </a:rPr>
              <a:t>, filtering out low-risk signals and </a:t>
            </a:r>
            <a:r>
              <a:rPr lang="en-US" sz="1100" b="1" dirty="0">
                <a:latin typeface="Arial" panose="020B0604020202020204" pitchFamily="34" charset="0"/>
                <a:cs typeface="Arial" panose="020B0604020202020204" pitchFamily="34" charset="0"/>
              </a:rPr>
              <a:t>prioritizing the highest-risk cases</a:t>
            </a:r>
            <a:r>
              <a:rPr lang="en-US" sz="1100" dirty="0">
                <a:latin typeface="Arial" panose="020B0604020202020204" pitchFamily="34" charset="0"/>
                <a:cs typeface="Arial" panose="020B0604020202020204" pitchFamily="34" charset="0"/>
              </a:rPr>
              <a:t>.</a:t>
            </a:r>
          </a:p>
          <a:p>
            <a:pPr marL="0" indent="0">
              <a:buNone/>
            </a:pPr>
            <a:r>
              <a:rPr lang="en-US" sz="1100" b="1" dirty="0">
                <a:latin typeface="Arial" panose="020B0604020202020204" pitchFamily="34" charset="0"/>
                <a:cs typeface="Arial" panose="020B0604020202020204" pitchFamily="34" charset="0"/>
              </a:rPr>
              <a:t>Adaptability</a:t>
            </a:r>
          </a:p>
          <a:p>
            <a:r>
              <a:rPr lang="en-US" sz="1100" b="1" dirty="0">
                <a:latin typeface="Arial" panose="020B0604020202020204" pitchFamily="34" charset="0"/>
                <a:cs typeface="Arial" panose="020B0604020202020204" pitchFamily="34" charset="0"/>
              </a:rPr>
              <a:t> </a:t>
            </a:r>
            <a:r>
              <a:rPr lang="en-US" sz="1100" dirty="0">
                <a:latin typeface="Arial" panose="020B0604020202020204" pitchFamily="34" charset="0"/>
                <a:cs typeface="Arial" panose="020B0604020202020204" pitchFamily="34" charset="0"/>
              </a:rPr>
              <a:t>As traffickers change tactics, prediction models and agents can learn and evolve quickly to stay effective.</a:t>
            </a:r>
          </a:p>
        </p:txBody>
      </p:sp>
    </p:spTree>
    <p:extLst>
      <p:ext uri="{BB962C8B-B14F-4D97-AF65-F5344CB8AC3E}">
        <p14:creationId xmlns:p14="http://schemas.microsoft.com/office/powerpoint/2010/main" val="1697037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2C97-259C-6C87-285F-D79B1BBA927B}"/>
              </a:ext>
            </a:extLst>
          </p:cNvPr>
          <p:cNvSpPr>
            <a:spLocks noGrp="1"/>
          </p:cNvSpPr>
          <p:nvPr>
            <p:ph type="title"/>
          </p:nvPr>
        </p:nvSpPr>
        <p:spPr>
          <a:xfrm>
            <a:off x="612648" y="548640"/>
            <a:ext cx="10653578" cy="842918"/>
          </a:xfrm>
        </p:spPr>
        <p:txBody>
          <a:bodyPr/>
          <a:lstStyle/>
          <a:p>
            <a:r>
              <a:rPr lang="en-US" dirty="0"/>
              <a:t>High Level Architecture</a:t>
            </a:r>
            <a:endParaRPr lang="en-IN" dirty="0"/>
          </a:p>
        </p:txBody>
      </p:sp>
      <p:pic>
        <p:nvPicPr>
          <p:cNvPr id="1026" name="Picture 2">
            <a:extLst>
              <a:ext uri="{FF2B5EF4-FFF2-40B4-BE49-F238E27FC236}">
                <a16:creationId xmlns:a16="http://schemas.microsoft.com/office/drawing/2014/main" id="{3571B365-2AEB-BAD3-1FA3-A7C22A3F69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2775" y="1800484"/>
            <a:ext cx="10653713" cy="4423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1271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A6C4D-78F6-A27E-EAED-0D147AACAF4E}"/>
              </a:ext>
            </a:extLst>
          </p:cNvPr>
          <p:cNvSpPr>
            <a:spLocks noGrp="1"/>
          </p:cNvSpPr>
          <p:nvPr>
            <p:ph type="title"/>
          </p:nvPr>
        </p:nvSpPr>
        <p:spPr>
          <a:xfrm>
            <a:off x="612648" y="548640"/>
            <a:ext cx="10653578" cy="621792"/>
          </a:xfrm>
        </p:spPr>
        <p:txBody>
          <a:bodyPr>
            <a:normAutofit/>
          </a:bodyPr>
          <a:lstStyle/>
          <a:p>
            <a:r>
              <a:rPr lang="en-US" sz="1400" dirty="0">
                <a:latin typeface="Arial" panose="020B0604020202020204" pitchFamily="34" charset="0"/>
                <a:cs typeface="Arial" panose="020B0604020202020204" pitchFamily="34" charset="0"/>
              </a:rPr>
              <a:t>How the AI Agents Work Together in the Human Trafficking Detection Solution</a:t>
            </a:r>
            <a:endParaRPr lang="en-IN" sz="1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251B71D-FAC9-C4C1-C184-03A3FD2D98C5}"/>
              </a:ext>
            </a:extLst>
          </p:cNvPr>
          <p:cNvSpPr>
            <a:spLocks noGrp="1"/>
          </p:cNvSpPr>
          <p:nvPr>
            <p:ph idx="1"/>
          </p:nvPr>
        </p:nvSpPr>
        <p:spPr>
          <a:xfrm>
            <a:off x="612647" y="1132086"/>
            <a:ext cx="10653579" cy="4593828"/>
          </a:xfrm>
        </p:spPr>
        <p:txBody>
          <a:bodyPr>
            <a:normAutofit/>
          </a:bodyPr>
          <a:lstStyle/>
          <a:p>
            <a:pPr marL="0" indent="0">
              <a:buNone/>
            </a:pPr>
            <a:r>
              <a:rPr lang="en-US" sz="1200" dirty="0">
                <a:latin typeface="Arial" panose="020B0604020202020204" pitchFamily="34" charset="0"/>
                <a:cs typeface="Arial" panose="020B0604020202020204" pitchFamily="34" charset="0"/>
              </a:rPr>
              <a:t>This solution leverages three specialized agents that work in sequence to detect, respond to, and support cases of human trafficking. They can also be triggered from Slack to investigate, notify and take necessary upon request.</a:t>
            </a:r>
          </a:p>
          <a:p>
            <a:pPr marL="0" indent="0">
              <a:buNone/>
            </a:pPr>
            <a:r>
              <a:rPr lang="en-US" sz="1200" b="1" dirty="0">
                <a:latin typeface="Arial" panose="020B0604020202020204" pitchFamily="34" charset="0"/>
                <a:cs typeface="Arial" panose="020B0604020202020204" pitchFamily="34" charset="0"/>
              </a:rPr>
              <a:t>Investigation Agent – Detects and Analyzes Threats </a:t>
            </a:r>
          </a:p>
          <a:p>
            <a:pPr marL="0" indent="0">
              <a:buNone/>
            </a:pPr>
            <a:r>
              <a:rPr lang="en-US" sz="1200" dirty="0">
                <a:latin typeface="Arial" panose="020B0604020202020204" pitchFamily="34" charset="0"/>
                <a:cs typeface="Arial" panose="020B0604020202020204" pitchFamily="34" charset="0"/>
              </a:rPr>
              <a:t>When a suspicious activity is identified—based on a risk score (High, Medium, Low)—a message is immediately sent to a Slack channel to alert relevant stakeholders. If the score is High, the Investigation Agent is automatically triggered. It conducts deep reasoning to classify the risk type, patterns, and signals behind the detection. A formal case is then created to initiate tracking and follow-up.</a:t>
            </a:r>
          </a:p>
          <a:p>
            <a:pPr marL="0" indent="0">
              <a:buNone/>
            </a:pPr>
            <a:r>
              <a:rPr lang="en-US" sz="1200" b="1" dirty="0">
                <a:latin typeface="Arial" panose="020B0604020202020204" pitchFamily="34" charset="0"/>
                <a:cs typeface="Arial" panose="020B0604020202020204" pitchFamily="34" charset="0"/>
              </a:rPr>
              <a:t>Safety Notification Agent - Engages Law Enforcement </a:t>
            </a:r>
          </a:p>
          <a:p>
            <a:pPr marL="0" indent="0">
              <a:buNone/>
            </a:pPr>
            <a:r>
              <a:rPr lang="en-US" sz="1200" dirty="0">
                <a:latin typeface="Arial" panose="020B0604020202020204" pitchFamily="34" charset="0"/>
                <a:cs typeface="Arial" panose="020B0604020202020204" pitchFamily="34" charset="0"/>
              </a:rPr>
              <a:t>Once a case is created, the Safety Notification Agent is activated. It identifies the victim’s country or region and sends an immediate alert to the appropriate local or national law enforcement agencies, enabling quick intervention to protect the individual.</a:t>
            </a:r>
          </a:p>
          <a:p>
            <a:pPr marL="0" indent="0">
              <a:buNone/>
            </a:pPr>
            <a:r>
              <a:rPr lang="en-US" sz="1200" b="1" dirty="0">
                <a:latin typeface="Arial" panose="020B0604020202020204" pitchFamily="34" charset="0"/>
                <a:cs typeface="Arial" panose="020B0604020202020204" pitchFamily="34" charset="0"/>
              </a:rPr>
              <a:t>Victim Rehabilitation Agent - Supports Survivors Post Rescue</a:t>
            </a:r>
          </a:p>
          <a:p>
            <a:pPr marL="0" indent="0">
              <a:buNone/>
            </a:pPr>
            <a:r>
              <a:rPr lang="en-US" sz="1200" dirty="0">
                <a:latin typeface="Arial" panose="020B0604020202020204" pitchFamily="34" charset="0"/>
                <a:cs typeface="Arial" panose="020B0604020202020204" pitchFamily="34" charset="0"/>
              </a:rPr>
              <a:t>This agent acts as a digital caseworker to assist survivors in rebuilding their lives. It creates a personalized recovery plan, coordinating access to medical care, legal aid, housing, and other essential services—ensuring long-term rehabilitation and well-being.</a:t>
            </a:r>
          </a:p>
        </p:txBody>
      </p:sp>
    </p:spTree>
    <p:extLst>
      <p:ext uri="{BB962C8B-B14F-4D97-AF65-F5344CB8AC3E}">
        <p14:creationId xmlns:p14="http://schemas.microsoft.com/office/powerpoint/2010/main" val="1334020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1C98E-52D0-E97A-4494-DDDCD1547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7C25E-A608-AFC7-8618-FFDBA01A300E}"/>
              </a:ext>
            </a:extLst>
          </p:cNvPr>
          <p:cNvSpPr>
            <a:spLocks noGrp="1"/>
          </p:cNvSpPr>
          <p:nvPr>
            <p:ph type="title"/>
          </p:nvPr>
        </p:nvSpPr>
        <p:spPr>
          <a:xfrm>
            <a:off x="612648" y="320040"/>
            <a:ext cx="10653578" cy="707774"/>
          </a:xfrm>
        </p:spPr>
        <p:txBody>
          <a:bodyPr>
            <a:normAutofit/>
          </a:bodyPr>
          <a:lstStyle/>
          <a:p>
            <a:r>
              <a:rPr lang="en-US" sz="1400" dirty="0">
                <a:latin typeface="Arial" panose="020B0604020202020204" pitchFamily="34" charset="0"/>
                <a:cs typeface="Arial" panose="020B0604020202020204" pitchFamily="34" charset="0"/>
              </a:rPr>
              <a:t>Building a Legally Compliant and Secure Human Trafficking Detection System</a:t>
            </a:r>
            <a:endParaRPr lang="en-IN" sz="1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3A40330-C3E9-72F7-2C30-E2923743DF79}"/>
              </a:ext>
            </a:extLst>
          </p:cNvPr>
          <p:cNvSpPr>
            <a:spLocks noGrp="1"/>
          </p:cNvSpPr>
          <p:nvPr>
            <p:ph idx="1"/>
          </p:nvPr>
        </p:nvSpPr>
        <p:spPr>
          <a:xfrm>
            <a:off x="506136" y="968223"/>
            <a:ext cx="10653579" cy="5748010"/>
          </a:xfrm>
        </p:spPr>
        <p:txBody>
          <a:bodyPr>
            <a:noAutofit/>
          </a:bodyPr>
          <a:lstStyle/>
          <a:p>
            <a:pPr>
              <a:buNone/>
            </a:pPr>
            <a:r>
              <a:rPr lang="en-US" sz="1200" dirty="0">
                <a:latin typeface="Arial" panose="020B0604020202020204" pitchFamily="34" charset="0"/>
                <a:cs typeface="Arial" panose="020B0604020202020204" pitchFamily="34" charset="0"/>
              </a:rPr>
              <a:t>	When developing a human trafficking detection solution for </a:t>
            </a:r>
            <a:r>
              <a:rPr lang="en-US" sz="1200" b="1" dirty="0">
                <a:latin typeface="Arial" panose="020B0604020202020204" pitchFamily="34" charset="0"/>
                <a:cs typeface="Arial" panose="020B0604020202020204" pitchFamily="34" charset="0"/>
              </a:rPr>
              <a:t>government agencies</a:t>
            </a:r>
            <a:r>
              <a:rPr lang="en-US" sz="1200" dirty="0">
                <a:latin typeface="Arial" panose="020B0604020202020204" pitchFamily="34" charset="0"/>
                <a:cs typeface="Arial" panose="020B0604020202020204" pitchFamily="34" charset="0"/>
              </a:rPr>
              <a:t>, especially with </a:t>
            </a:r>
            <a:r>
              <a:rPr lang="en-US" sz="1200" b="1" dirty="0">
                <a:latin typeface="Arial" panose="020B0604020202020204" pitchFamily="34" charset="0"/>
                <a:cs typeface="Arial" panose="020B0604020202020204" pitchFamily="34" charset="0"/>
              </a:rPr>
              <a:t>cross-border data</a:t>
            </a:r>
            <a:r>
              <a:rPr lang="en-US" sz="1200" dirty="0">
                <a:latin typeface="Arial" panose="020B0604020202020204" pitchFamily="34" charset="0"/>
                <a:cs typeface="Arial" panose="020B0604020202020204" pitchFamily="34" charset="0"/>
              </a:rPr>
              <a:t> and </a:t>
            </a:r>
            <a:r>
              <a:rPr lang="en-US" sz="1200" b="1" dirty="0">
                <a:latin typeface="Arial" panose="020B0604020202020204" pitchFamily="34" charset="0"/>
                <a:cs typeface="Arial" panose="020B0604020202020204" pitchFamily="34" charset="0"/>
              </a:rPr>
              <a:t>personal information</a:t>
            </a:r>
            <a:r>
              <a:rPr lang="en-US" sz="1200" dirty="0">
                <a:latin typeface="Arial" panose="020B0604020202020204" pitchFamily="34" charset="0"/>
                <a:cs typeface="Arial" panose="020B0604020202020204" pitchFamily="34" charset="0"/>
              </a:rPr>
              <a:t>, it's essential to ensure that data handling is: </a:t>
            </a:r>
            <a:r>
              <a:rPr lang="en-US" sz="1200" b="1" dirty="0">
                <a:latin typeface="Arial" panose="020B0604020202020204" pitchFamily="34" charset="0"/>
                <a:cs typeface="Arial" panose="020B0604020202020204" pitchFamily="34" charset="0"/>
              </a:rPr>
              <a:t>Legally Compliant, Ethically Sound, Technically Secure</a:t>
            </a:r>
            <a:endParaRPr lang="en-US" sz="1200" dirty="0">
              <a:latin typeface="Arial" panose="020B0604020202020204" pitchFamily="34" charset="0"/>
              <a:cs typeface="Arial" panose="020B0604020202020204" pitchFamily="34" charset="0"/>
            </a:endParaRPr>
          </a:p>
          <a:p>
            <a:pPr>
              <a:buNone/>
            </a:pPr>
            <a:r>
              <a:rPr lang="en-US" sz="1200" b="1" u="sng" dirty="0">
                <a:latin typeface="Arial" panose="020B0604020202020204" pitchFamily="34" charset="0"/>
                <a:cs typeface="Arial" panose="020B0604020202020204" pitchFamily="34" charset="0"/>
              </a:rPr>
              <a:t>Why Detection Is Challenging in Traditional Systems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Data Fragmentation</a:t>
            </a:r>
            <a:r>
              <a:rPr lang="en-US" sz="1200" dirty="0">
                <a:latin typeface="Arial" panose="020B0604020202020204" pitchFamily="34" charset="0"/>
                <a:cs typeface="Arial" panose="020B0604020202020204" pitchFamily="34" charset="0"/>
              </a:rPr>
              <a:t>: Information is scattered across social media, job portals, financial systems, and messaging apps.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Jurisdictional Barriers</a:t>
            </a:r>
            <a:r>
              <a:rPr lang="en-US" sz="1200" dirty="0">
                <a:latin typeface="Arial" panose="020B0604020202020204" pitchFamily="34" charset="0"/>
                <a:cs typeface="Arial" panose="020B0604020202020204" pitchFamily="34" charset="0"/>
              </a:rPr>
              <a:t>: Cross-border privacy laws limit lawful data access across countries.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High Sensitivity</a:t>
            </a:r>
            <a:r>
              <a:rPr lang="en-US" sz="1200" dirty="0">
                <a:latin typeface="Arial" panose="020B0604020202020204" pitchFamily="34" charset="0"/>
                <a:cs typeface="Arial" panose="020B0604020202020204" pitchFamily="34" charset="0"/>
              </a:rPr>
              <a:t>: Victim identities and behavioral signals require robust data governance.</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Lack of Consent or Legal Basis</a:t>
            </a:r>
            <a:r>
              <a:rPr lang="en-US" sz="1200" dirty="0">
                <a:latin typeface="Arial" panose="020B0604020202020204" pitchFamily="34" charset="0"/>
                <a:cs typeface="Arial" panose="020B0604020202020204" pitchFamily="34" charset="0"/>
              </a:rPr>
              <a:t>: Unifying personal data at scale is difficult without consent or legal agreements.</a:t>
            </a:r>
          </a:p>
          <a:p>
            <a:pPr>
              <a:buNone/>
            </a:pPr>
            <a:r>
              <a:rPr lang="en-US" sz="1200" b="1" u="sng" dirty="0">
                <a:latin typeface="Arial" panose="020B0604020202020204" pitchFamily="34" charset="0"/>
                <a:cs typeface="Arial" panose="020B0604020202020204" pitchFamily="34" charset="0"/>
              </a:rPr>
              <a:t>How Salesforce  Overcomes These Challenges</a:t>
            </a:r>
          </a:p>
          <a:p>
            <a:pPr>
              <a:buNone/>
            </a:pPr>
            <a:r>
              <a:rPr lang="en-US" sz="1200" dirty="0">
                <a:latin typeface="Arial" panose="020B0604020202020204" pitchFamily="34" charset="0"/>
                <a:cs typeface="Arial" panose="020B0604020202020204" pitchFamily="34" charset="0"/>
              </a:rPr>
              <a:t>Having right legal frameworks in place and Salesforce capabilities, secure and lawful detection becomes possible:</a:t>
            </a:r>
          </a:p>
          <a:p>
            <a:pPr>
              <a:buNone/>
            </a:pPr>
            <a:r>
              <a:rPr lang="en-US" sz="1200" b="1" dirty="0">
                <a:latin typeface="Arial" panose="020B0604020202020204" pitchFamily="34" charset="0"/>
                <a:cs typeface="Arial" panose="020B0604020202020204" pitchFamily="34" charset="0"/>
              </a:rPr>
              <a:t>1. Legal Authorizations &amp; Frameworks</a:t>
            </a:r>
            <a:endParaRPr lang="en-US" sz="12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Mutual Legal Assistance Treaties (MLATs)</a:t>
            </a:r>
            <a:r>
              <a:rPr lang="en-US" sz="1200" dirty="0">
                <a:latin typeface="Arial" panose="020B0604020202020204" pitchFamily="34" charset="0"/>
                <a:cs typeface="Arial" panose="020B0604020202020204" pitchFamily="34" charset="0"/>
              </a:rPr>
              <a:t>: Enable lawful data sharing between countries.</a:t>
            </a:r>
          </a:p>
          <a:p>
            <a:pPr>
              <a:buFont typeface="Arial" panose="020B0604020202020204" pitchFamily="34" charset="0"/>
              <a:buChar char="•"/>
            </a:pPr>
            <a:r>
              <a:rPr lang="en-US" sz="1200" b="1" dirty="0">
                <a:latin typeface="Arial" panose="020B0604020202020204" pitchFamily="34" charset="0"/>
                <a:cs typeface="Arial" panose="020B0604020202020204" pitchFamily="34" charset="0"/>
              </a:rPr>
              <a:t>Inter-Agency Agreements</a:t>
            </a:r>
            <a:r>
              <a:rPr lang="en-US" sz="1200" dirty="0">
                <a:latin typeface="Arial" panose="020B0604020202020204" pitchFamily="34" charset="0"/>
                <a:cs typeface="Arial" panose="020B0604020202020204" pitchFamily="34" charset="0"/>
              </a:rPr>
              <a:t>: Allow secure collaboration across departments.</a:t>
            </a:r>
          </a:p>
          <a:p>
            <a:pPr>
              <a:buNone/>
            </a:pPr>
            <a:r>
              <a:rPr lang="en-IN" sz="1200" b="1" dirty="0">
                <a:latin typeface="Arial" panose="020B0604020202020204" pitchFamily="34" charset="0"/>
                <a:cs typeface="Arial" panose="020B0604020202020204" pitchFamily="34" charset="0"/>
              </a:rPr>
              <a:t>2. Data Residency &amp; Compliance</a:t>
            </a:r>
            <a:endParaRPr lang="en-IN" sz="12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200" dirty="0">
                <a:latin typeface="Arial" panose="020B0604020202020204" pitchFamily="34" charset="0"/>
                <a:cs typeface="Arial" panose="020B0604020202020204" pitchFamily="34" charset="0"/>
              </a:rPr>
              <a:t>Salesforce </a:t>
            </a:r>
            <a:r>
              <a:rPr lang="en-IN" sz="1200" b="1" dirty="0">
                <a:latin typeface="Arial" panose="020B0604020202020204" pitchFamily="34" charset="0"/>
                <a:cs typeface="Arial" panose="020B0604020202020204" pitchFamily="34" charset="0"/>
              </a:rPr>
              <a:t>Data Cloud supports localization</a:t>
            </a:r>
            <a:r>
              <a:rPr lang="en-IN" sz="1200" dirty="0">
                <a:latin typeface="Arial" panose="020B0604020202020204" pitchFamily="34" charset="0"/>
                <a:cs typeface="Arial" panose="020B0604020202020204" pitchFamily="34" charset="0"/>
              </a:rPr>
              <a:t> for GDPR, CCPA, PDPA, and other regulations.</a:t>
            </a:r>
          </a:p>
          <a:p>
            <a:pPr>
              <a:buFont typeface="Arial" panose="020B0604020202020204" pitchFamily="34" charset="0"/>
              <a:buChar char="•"/>
            </a:pPr>
            <a:r>
              <a:rPr lang="en-IN" sz="1200" dirty="0">
                <a:latin typeface="Arial" panose="020B0604020202020204" pitchFamily="34" charset="0"/>
                <a:cs typeface="Arial" panose="020B0604020202020204" pitchFamily="34" charset="0"/>
              </a:rPr>
              <a:t>Enforces </a:t>
            </a:r>
            <a:r>
              <a:rPr lang="en-IN" sz="1200" b="1" dirty="0">
                <a:latin typeface="Arial" panose="020B0604020202020204" pitchFamily="34" charset="0"/>
                <a:cs typeface="Arial" panose="020B0604020202020204" pitchFamily="34" charset="0"/>
              </a:rPr>
              <a:t>data sovereignty and regional storage policies</a:t>
            </a:r>
            <a:r>
              <a:rPr lang="en-IN" sz="1200" dirty="0">
                <a:latin typeface="Arial" panose="020B0604020202020204" pitchFamily="34" charset="0"/>
                <a:cs typeface="Arial" panose="020B0604020202020204" pitchFamily="34" charset="0"/>
              </a:rPr>
              <a:t>.</a:t>
            </a:r>
          </a:p>
          <a:p>
            <a:pPr>
              <a:buNone/>
            </a:pPr>
            <a:r>
              <a:rPr lang="en-IN" sz="1200" b="1" dirty="0">
                <a:latin typeface="Arial" panose="020B0604020202020204" pitchFamily="34" charset="0"/>
                <a:cs typeface="Arial" panose="020B0604020202020204" pitchFamily="34" charset="0"/>
              </a:rPr>
              <a:t>3. Enterprise-Grade Data Protection</a:t>
            </a:r>
            <a:endParaRPr lang="en-IN" sz="12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200" dirty="0">
                <a:latin typeface="Arial" panose="020B0604020202020204" pitchFamily="34" charset="0"/>
                <a:cs typeface="Arial" panose="020B0604020202020204" pitchFamily="34" charset="0"/>
              </a:rPr>
              <a:t>Shield Platform </a:t>
            </a:r>
            <a:r>
              <a:rPr lang="en-IN" sz="1200" b="1" dirty="0">
                <a:latin typeface="Arial" panose="020B0604020202020204" pitchFamily="34" charset="0"/>
                <a:cs typeface="Arial" panose="020B0604020202020204" pitchFamily="34" charset="0"/>
              </a:rPr>
              <a:t>encryption</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access control</a:t>
            </a:r>
            <a:r>
              <a:rPr lang="en-IN" sz="1200" dirty="0">
                <a:latin typeface="Arial" panose="020B0604020202020204" pitchFamily="34" charset="0"/>
                <a:cs typeface="Arial" panose="020B0604020202020204" pitchFamily="34" charset="0"/>
              </a:rPr>
              <a:t>, and </a:t>
            </a:r>
            <a:r>
              <a:rPr lang="en-IN" sz="1200" b="1" dirty="0">
                <a:latin typeface="Arial" panose="020B0604020202020204" pitchFamily="34" charset="0"/>
                <a:cs typeface="Arial" panose="020B0604020202020204" pitchFamily="34" charset="0"/>
              </a:rPr>
              <a:t>audit trails</a:t>
            </a:r>
            <a:r>
              <a:rPr lang="en-IN" sz="1200" dirty="0">
                <a:latin typeface="Arial" panose="020B0604020202020204" pitchFamily="34" charset="0"/>
                <a:cs typeface="Arial" panose="020B0604020202020204" pitchFamily="34" charset="0"/>
              </a:rPr>
              <a:t> ensure secure data processing.</a:t>
            </a:r>
          </a:p>
          <a:p>
            <a:pPr>
              <a:buNone/>
            </a:pPr>
            <a:endParaRPr lang="en-US" sz="1200" dirty="0">
              <a:latin typeface="Arial" panose="020B0604020202020204" pitchFamily="34" charset="0"/>
              <a:cs typeface="Arial" panose="020B0604020202020204" pitchFamily="34" charset="0"/>
            </a:endParaRPr>
          </a:p>
          <a:p>
            <a:pPr>
              <a:buNone/>
            </a:pP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5929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1413A-8D7D-0116-0E0A-3B9228C97D2F}"/>
              </a:ext>
            </a:extLst>
          </p:cNvPr>
          <p:cNvSpPr>
            <a:spLocks noGrp="1"/>
          </p:cNvSpPr>
          <p:nvPr>
            <p:ph type="title"/>
          </p:nvPr>
        </p:nvSpPr>
        <p:spPr>
          <a:xfrm>
            <a:off x="612648" y="548640"/>
            <a:ext cx="10653578" cy="724989"/>
          </a:xfrm>
        </p:spPr>
        <p:txBody>
          <a:bodyPr>
            <a:normAutofit/>
          </a:bodyPr>
          <a:lstStyle/>
          <a:p>
            <a:r>
              <a:rPr lang="en-US" sz="1600" b="1" dirty="0">
                <a:latin typeface="Arial" panose="020B0604020202020204" pitchFamily="34" charset="0"/>
                <a:cs typeface="Arial" panose="020B0604020202020204" pitchFamily="34" charset="0"/>
              </a:rPr>
              <a:t>How We Bring Scattered Data Together for Detection</a:t>
            </a:r>
            <a:endParaRPr lang="en-IN" sz="1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D725E32-3877-49C7-7DEF-5AACA8755F20}"/>
              </a:ext>
            </a:extLst>
          </p:cNvPr>
          <p:cNvSpPr>
            <a:spLocks noGrp="1"/>
          </p:cNvSpPr>
          <p:nvPr>
            <p:ph idx="1"/>
          </p:nvPr>
        </p:nvSpPr>
        <p:spPr/>
        <p:txBody>
          <a:bodyPr>
            <a:normAutofit/>
          </a:bodyPr>
          <a:lstStyle/>
          <a:p>
            <a:pPr>
              <a:buNone/>
            </a:pPr>
            <a:r>
              <a:rPr lang="en-US" sz="1300" b="1" dirty="0">
                <a:latin typeface="Arial" panose="020B0604020202020204" pitchFamily="34" charset="0"/>
                <a:cs typeface="Arial" panose="020B0604020202020204" pitchFamily="34" charset="0"/>
              </a:rPr>
              <a:t>1. Data Collection</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We collect data from different platforms like travel bookings, job applications, social media, and financial transactions.</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Secure </a:t>
            </a:r>
            <a:r>
              <a:rPr lang="en-US" sz="1300" b="1" dirty="0">
                <a:latin typeface="Arial" panose="020B0604020202020204" pitchFamily="34" charset="0"/>
                <a:cs typeface="Arial" panose="020B0604020202020204" pitchFamily="34" charset="0"/>
              </a:rPr>
              <a:t>APIs</a:t>
            </a:r>
            <a:r>
              <a:rPr lang="en-US" sz="1300" dirty="0">
                <a:latin typeface="Arial" panose="020B0604020202020204" pitchFamily="34" charset="0"/>
                <a:cs typeface="Arial" panose="020B0604020202020204" pitchFamily="34" charset="0"/>
              </a:rPr>
              <a:t> are used to pull data from these sources (e.g., Booking.com for travel or LinkedIn for job listings).</a:t>
            </a:r>
          </a:p>
          <a:p>
            <a:pPr>
              <a:buNone/>
            </a:pPr>
            <a:r>
              <a:rPr lang="en-US" sz="1300" b="1" dirty="0">
                <a:latin typeface="Arial" panose="020B0604020202020204" pitchFamily="34" charset="0"/>
                <a:cs typeface="Arial" panose="020B0604020202020204" pitchFamily="34" charset="0"/>
              </a:rPr>
              <a:t>2. Data Preprocessing</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The collected data is stored in a </a:t>
            </a:r>
            <a:r>
              <a:rPr lang="en-US" sz="1300" b="1" dirty="0">
                <a:latin typeface="Arial" panose="020B0604020202020204" pitchFamily="34" charset="0"/>
                <a:cs typeface="Arial" panose="020B0604020202020204" pitchFamily="34" charset="0"/>
              </a:rPr>
              <a:t>cloud storage system</a:t>
            </a:r>
            <a:r>
              <a:rPr lang="en-US" sz="1300" dirty="0">
                <a:latin typeface="Arial" panose="020B0604020202020204" pitchFamily="34" charset="0"/>
                <a:cs typeface="Arial" panose="020B0604020202020204" pitchFamily="34" charset="0"/>
              </a:rPr>
              <a:t> (e.g., AWS S3 or Azure Data Lake).</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We clean and standardize the data, fixing any errors and ensuring all information is in a consistent format.</a:t>
            </a:r>
          </a:p>
          <a:p>
            <a:pPr>
              <a:buNone/>
            </a:pPr>
            <a:r>
              <a:rPr lang="en-US" sz="1300" b="1" dirty="0">
                <a:latin typeface="Arial" panose="020B0604020202020204" pitchFamily="34" charset="0"/>
                <a:cs typeface="Arial" panose="020B0604020202020204" pitchFamily="34" charset="0"/>
              </a:rPr>
              <a:t>3. Ingestion into Salesforce Data Cloud</a:t>
            </a:r>
          </a:p>
          <a:p>
            <a:pPr>
              <a:buFont typeface="Arial" panose="020B0604020202020204" pitchFamily="34" charset="0"/>
              <a:buChar char="•"/>
            </a:pPr>
            <a:r>
              <a:rPr lang="en-US" sz="1300" dirty="0">
                <a:latin typeface="Arial" panose="020B0604020202020204" pitchFamily="34" charset="0"/>
                <a:cs typeface="Arial" panose="020B0604020202020204" pitchFamily="34" charset="0"/>
              </a:rPr>
              <a:t>Once the data is processed, it’s moved into </a:t>
            </a:r>
            <a:r>
              <a:rPr lang="en-US" sz="1300" b="1" dirty="0">
                <a:latin typeface="Arial" panose="020B0604020202020204" pitchFamily="34" charset="0"/>
                <a:cs typeface="Arial" panose="020B0604020202020204" pitchFamily="34" charset="0"/>
              </a:rPr>
              <a:t>Salesforce Data Cloud</a:t>
            </a:r>
            <a:r>
              <a:rPr lang="en-US" sz="1300" dirty="0">
                <a:latin typeface="Arial" panose="020B0604020202020204" pitchFamily="34" charset="0"/>
                <a:cs typeface="Arial" panose="020B0604020202020204" pitchFamily="34" charset="0"/>
              </a:rPr>
              <a:t> using </a:t>
            </a:r>
            <a:r>
              <a:rPr lang="en-US" sz="1300" b="1" dirty="0">
                <a:latin typeface="Arial" panose="020B0604020202020204" pitchFamily="34" charset="0"/>
                <a:cs typeface="Arial" panose="020B0604020202020204" pitchFamily="34" charset="0"/>
              </a:rPr>
              <a:t>APIs</a:t>
            </a:r>
            <a:r>
              <a:rPr lang="en-US" sz="1300" dirty="0">
                <a:latin typeface="Arial" panose="020B0604020202020204" pitchFamily="34" charset="0"/>
                <a:cs typeface="Arial" panose="020B0604020202020204" pitchFamily="34" charset="0"/>
              </a:rPr>
              <a:t> </a:t>
            </a:r>
          </a:p>
          <a:p>
            <a:pPr marL="0" indent="0">
              <a:buNone/>
            </a:pPr>
            <a:endParaRPr lang="en-IN" dirty="0"/>
          </a:p>
        </p:txBody>
      </p:sp>
    </p:spTree>
    <p:extLst>
      <p:ext uri="{BB962C8B-B14F-4D97-AF65-F5344CB8AC3E}">
        <p14:creationId xmlns:p14="http://schemas.microsoft.com/office/powerpoint/2010/main" val="1156505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F93C1-C729-110F-F7FE-75DBDD69C440}"/>
              </a:ext>
            </a:extLst>
          </p:cNvPr>
          <p:cNvSpPr>
            <a:spLocks noGrp="1"/>
          </p:cNvSpPr>
          <p:nvPr>
            <p:ph type="title"/>
          </p:nvPr>
        </p:nvSpPr>
        <p:spPr>
          <a:xfrm>
            <a:off x="612648" y="548640"/>
            <a:ext cx="10653578" cy="673116"/>
          </a:xfrm>
        </p:spPr>
        <p:txBody>
          <a:bodyPr/>
          <a:lstStyle/>
          <a:p>
            <a:r>
              <a:rPr lang="en-IN" dirty="0"/>
              <a:t>Quantifying ROI</a:t>
            </a:r>
          </a:p>
        </p:txBody>
      </p:sp>
      <p:sp>
        <p:nvSpPr>
          <p:cNvPr id="3" name="Content Placeholder 2">
            <a:extLst>
              <a:ext uri="{FF2B5EF4-FFF2-40B4-BE49-F238E27FC236}">
                <a16:creationId xmlns:a16="http://schemas.microsoft.com/office/drawing/2014/main" id="{2220820D-823F-2679-0EBC-B0CC764CF0D1}"/>
              </a:ext>
            </a:extLst>
          </p:cNvPr>
          <p:cNvSpPr>
            <a:spLocks noGrp="1"/>
          </p:cNvSpPr>
          <p:nvPr>
            <p:ph idx="1"/>
          </p:nvPr>
        </p:nvSpPr>
        <p:spPr>
          <a:xfrm>
            <a:off x="530351" y="1221756"/>
            <a:ext cx="10653579" cy="4593828"/>
          </a:xfrm>
        </p:spPr>
        <p:txBody>
          <a:bodyPr>
            <a:normAutofit/>
          </a:bodyPr>
          <a:lstStyle/>
          <a:p>
            <a:pPr marL="0" indent="0">
              <a:buNone/>
            </a:pPr>
            <a:r>
              <a:rPr lang="en-US" sz="1200" dirty="0">
                <a:latin typeface="Arial" panose="020B0604020202020204" pitchFamily="34" charset="0"/>
                <a:cs typeface="Arial" panose="020B0604020202020204" pitchFamily="34" charset="0"/>
              </a:rPr>
              <a:t>The </a:t>
            </a:r>
            <a:r>
              <a:rPr lang="en-US" sz="1200" b="1" dirty="0">
                <a:latin typeface="Arial" panose="020B0604020202020204" pitchFamily="34" charset="0"/>
                <a:cs typeface="Arial" panose="020B0604020202020204" pitchFamily="34" charset="0"/>
              </a:rPr>
              <a:t>Return on Investment (ROI)</a:t>
            </a:r>
            <a:r>
              <a:rPr lang="en-US" sz="1200" dirty="0">
                <a:latin typeface="Arial" panose="020B0604020202020204" pitchFamily="34" charset="0"/>
                <a:cs typeface="Arial" panose="020B0604020202020204" pitchFamily="34" charset="0"/>
              </a:rPr>
              <a:t> for developing a solution to detect human trafficking can be assessed across multiple dimensions—</a:t>
            </a:r>
            <a:r>
              <a:rPr lang="en-US" sz="1200" b="1" dirty="0">
                <a:latin typeface="Arial" panose="020B0604020202020204" pitchFamily="34" charset="0"/>
                <a:cs typeface="Arial" panose="020B0604020202020204" pitchFamily="34" charset="0"/>
              </a:rPr>
              <a:t>financial, social, operational.</a:t>
            </a:r>
          </a:p>
          <a:p>
            <a:pPr marL="0" indent="0">
              <a:buNone/>
            </a:pPr>
            <a:r>
              <a:rPr lang="en-IN" sz="1100" b="1" i="1" dirty="0"/>
              <a:t>Operational ROI</a:t>
            </a:r>
            <a:r>
              <a:rPr lang="en-US" sz="1200" b="1" dirty="0">
                <a:latin typeface="Arial" panose="020B0604020202020204" pitchFamily="34" charset="0"/>
                <a:cs typeface="Arial" panose="020B0604020202020204" pitchFamily="34" charset="0"/>
              </a:rPr>
              <a:t> - </a:t>
            </a:r>
            <a:r>
              <a:rPr lang="en-US" sz="1100" dirty="0"/>
              <a:t>AI and automation reduce the manual effort needed to analyze large datasets</a:t>
            </a:r>
            <a:r>
              <a:rPr lang="en-US" sz="1200" b="1" dirty="0">
                <a:latin typeface="Arial" panose="020B0604020202020204" pitchFamily="34" charset="0"/>
                <a:cs typeface="Arial" panose="020B0604020202020204" pitchFamily="34" charset="0"/>
              </a:rPr>
              <a:t>.</a:t>
            </a:r>
          </a:p>
          <a:p>
            <a:pPr marL="0" indent="0">
              <a:buNone/>
            </a:pPr>
            <a:r>
              <a:rPr lang="en-US" sz="1200" b="1" i="1" dirty="0">
                <a:latin typeface="Arial" panose="020B0604020202020204" pitchFamily="34" charset="0"/>
                <a:cs typeface="Arial" panose="020B0604020202020204" pitchFamily="34" charset="0"/>
              </a:rPr>
              <a:t>Social ROI </a:t>
            </a:r>
            <a:r>
              <a:rPr lang="en-US" sz="1200" b="1" dirty="0">
                <a:latin typeface="Arial" panose="020B0604020202020204" pitchFamily="34" charset="0"/>
                <a:cs typeface="Arial" panose="020B0604020202020204" pitchFamily="34" charset="0"/>
              </a:rPr>
              <a:t>- </a:t>
            </a:r>
            <a:r>
              <a:rPr lang="en-US" sz="1100" dirty="0"/>
              <a:t>Preventing exploitation, rescuing victims, and disrupting trafficking networks has a profound and immeasurable societal value.</a:t>
            </a:r>
          </a:p>
          <a:p>
            <a:pPr marL="0" indent="0">
              <a:buNone/>
            </a:pPr>
            <a:r>
              <a:rPr lang="en-US" sz="1100" b="1" i="1" dirty="0">
                <a:latin typeface="Arial" panose="020B0604020202020204" pitchFamily="34" charset="0"/>
                <a:cs typeface="Arial" panose="020B0604020202020204" pitchFamily="34" charset="0"/>
              </a:rPr>
              <a:t>Financial ROI </a:t>
            </a:r>
            <a:r>
              <a:rPr lang="en-US" sz="1100" dirty="0">
                <a:latin typeface="Arial" panose="020B0604020202020204" pitchFamily="34" charset="0"/>
                <a:cs typeface="Arial" panose="020B0604020202020204" pitchFamily="34" charset="0"/>
              </a:rPr>
              <a:t>- </a:t>
            </a:r>
            <a:r>
              <a:rPr lang="en-US" sz="1050" dirty="0"/>
              <a:t>Reduces costs associated with investigations, healthcare, victim rehabilitation, and legal processes.</a:t>
            </a:r>
            <a:endParaRPr lang="en-IN"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8641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B074-DBC6-631D-751D-A592D150434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CC55EAA-77AC-A9C9-6F31-29D55B38D245}"/>
              </a:ext>
            </a:extLst>
          </p:cNvPr>
          <p:cNvSpPr>
            <a:spLocks noGrp="1"/>
          </p:cNvSpPr>
          <p:nvPr>
            <p:ph idx="1"/>
          </p:nvPr>
        </p:nvSpPr>
        <p:spPr/>
        <p:txBody>
          <a:bodyPr>
            <a:normAutofit/>
          </a:bodyPr>
          <a:lstStyle/>
          <a:p>
            <a:pPr marL="0" indent="0">
              <a:buNone/>
            </a:pPr>
            <a:r>
              <a:rPr lang="en-US" sz="4800" dirty="0"/>
              <a:t>THANK YOU</a:t>
            </a:r>
            <a:endParaRPr lang="en-IN" sz="4800" dirty="0"/>
          </a:p>
        </p:txBody>
      </p:sp>
    </p:spTree>
    <p:extLst>
      <p:ext uri="{BB962C8B-B14F-4D97-AF65-F5344CB8AC3E}">
        <p14:creationId xmlns:p14="http://schemas.microsoft.com/office/powerpoint/2010/main" val="84641842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544</TotalTime>
  <Words>1250</Words>
  <Application>Microsoft Office PowerPoint</Application>
  <PresentationFormat>Widescreen</PresentationFormat>
  <Paragraphs>87</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Neue Haas Grotesk Text Pro</vt:lpstr>
      <vt:lpstr>VanillaVTI</vt:lpstr>
      <vt:lpstr>ResQForce</vt:lpstr>
      <vt:lpstr>Use Case: AI-Driven Human Trafficking Detection and Intervention Platform</vt:lpstr>
      <vt:lpstr>Understanding Human Trafficking: The Core Framework</vt:lpstr>
      <vt:lpstr>From Data to Action: Using Salesforce to Detect and Disrupt Trafficking Networks</vt:lpstr>
      <vt:lpstr>High Level Architecture</vt:lpstr>
      <vt:lpstr>How the AI Agents Work Together in the Human Trafficking Detection Solution</vt:lpstr>
      <vt:lpstr>Building a Legally Compliant and Secure Human Trafficking Detection System</vt:lpstr>
      <vt:lpstr>How We Bring Scattered Data Together for Detection</vt:lpstr>
      <vt:lpstr>Quantifying ROI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Priyanka, Geethanjali</dc:creator>
  <cp:lastModifiedBy>Priyanka, Geethanjali</cp:lastModifiedBy>
  <cp:revision>4</cp:revision>
  <dcterms:created xsi:type="dcterms:W3CDTF">2025-04-27T06:34:41Z</dcterms:created>
  <dcterms:modified xsi:type="dcterms:W3CDTF">2025-04-30T12:32:22Z</dcterms:modified>
</cp:coreProperties>
</file>